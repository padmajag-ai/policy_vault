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6858000" cy="9144000"/>
  <p:embeddedFontLst>
    <p:embeddedFont>
      <p:font typeface="Google Sans Flex" panose="020B0604020202020204" charset="0"/>
      <p:regular r:id="rId18"/>
      <p:bold r:id="rId19"/>
    </p:embeddedFont>
    <p:embeddedFont>
      <p:font typeface="Google Sans Flex Medium" panose="020B0604020202020204" charset="0"/>
      <p:regular r:id="rId20"/>
      <p:bold r:id="rId21"/>
    </p:embeddedFont>
    <p:embeddedFont>
      <p:font typeface="Google Sans Flex SemiBold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policy-vault-240640518337.asia-south1.run.app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file/d/19nF2-_emvN84OQLu0H5qE1JFzui3Pq-3/view?usp=sharing" TargetMode="External"/><Relationship Id="rId5" Type="http://schemas.openxmlformats.org/officeDocument/2006/relationships/hyperlink" Target="https://github.com/PadmajaG-ai/policy_vault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Human in the loop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Padmaja Giribabu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8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 for how organisations access knowledge and make decisions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Brief about the idea</a:t>
            </a:r>
            <a:endParaRPr lang="en-GB" sz="1600" dirty="0">
              <a:latin typeface="Google Sans Flex SemiBold"/>
              <a:ea typeface="Google Sans Flex SemiBold"/>
              <a:cs typeface="Google Sans Flex SemiBold"/>
              <a:sym typeface="Google Sans Flex"/>
            </a:endParaRPr>
          </a:p>
        </p:txBody>
      </p:sp>
      <p:sp>
        <p:nvSpPr>
          <p:cNvPr id="1001" name="Text 1001"/>
          <p:cNvSpPr txBox="1"/>
          <p:nvPr/>
        </p:nvSpPr>
        <p:spPr>
          <a:xfrm>
            <a:off x="347472" y="1115568"/>
            <a:ext cx="41605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Policy Vault captures why enterprise systems are configured the way they are, before the experts who know leave.</a:t>
            </a:r>
          </a:p>
        </p:txBody>
      </p:sp>
      <p:sp>
        <p:nvSpPr>
          <p:cNvPr id="1002" name="Text 1002"/>
          <p:cNvSpPr txBox="1"/>
          <p:nvPr/>
        </p:nvSpPr>
        <p:spPr>
          <a:xfrm>
            <a:off x="347472" y="2139696"/>
            <a:ext cx="416052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The problem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Expense, procurement and inventory systems are shaped over years by a few experts. When they retire, nobody knows why a rule, approval step or hidden field exists, so teams are afraid to change anything.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Meanwhile the written policy and the live configuration quietly drift apart. That leaks money and breaks controls auditors were told exist.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Wikis and enterprise search can only find what someone wrote down. The most valuable knowledge never was.</a:t>
            </a:r>
          </a:p>
        </p:txBody>
      </p:sp>
      <p:sp>
        <p:nvSpPr>
          <p:cNvPr id="1003" name="Card 1003"/>
          <p:cNvSpPr/>
          <p:nvPr/>
        </p:nvSpPr>
        <p:spPr>
          <a:xfrm>
            <a:off x="4800600" y="1115568"/>
            <a:ext cx="399592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04" name="Badge 1004"/>
          <p:cNvSpPr txBox="1"/>
          <p:nvPr/>
        </p:nvSpPr>
        <p:spPr>
          <a:xfrm>
            <a:off x="4965192" y="1298448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005" name="Text 1005"/>
          <p:cNvSpPr txBox="1"/>
          <p:nvPr/>
        </p:nvSpPr>
        <p:spPr>
          <a:xfrm>
            <a:off x="5404104" y="1225296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3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Detect drift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Compares the policy PDF with the live configuration, value by value, and finds the root cause of each mismatch in old tickets.</a:t>
            </a:r>
          </a:p>
        </p:txBody>
      </p:sp>
      <p:sp>
        <p:nvSpPr>
          <p:cNvPr id="1006" name="Card 1006"/>
          <p:cNvSpPr/>
          <p:nvPr/>
        </p:nvSpPr>
        <p:spPr>
          <a:xfrm>
            <a:off x="4800600" y="2368296"/>
            <a:ext cx="399592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07" name="Badge 1007"/>
          <p:cNvSpPr txBox="1"/>
          <p:nvPr/>
        </p:nvSpPr>
        <p:spPr>
          <a:xfrm>
            <a:off x="4965192" y="2551176"/>
            <a:ext cx="310896" cy="310896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008" name="Text 1008"/>
          <p:cNvSpPr txBox="1"/>
          <p:nvPr/>
        </p:nvSpPr>
        <p:spPr>
          <a:xfrm>
            <a:off x="5404104" y="2478024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3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Capture the why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Finds rules nobody can explain, interviews the expert with evidence, and a human verifies the answer as a Decision Record.</a:t>
            </a:r>
          </a:p>
        </p:txBody>
      </p:sp>
      <p:sp>
        <p:nvSpPr>
          <p:cNvPr id="1009" name="Card 1009"/>
          <p:cNvSpPr/>
          <p:nvPr/>
        </p:nvSpPr>
        <p:spPr>
          <a:xfrm>
            <a:off x="4800600" y="3621024"/>
            <a:ext cx="399592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0" name="Badge 1010"/>
          <p:cNvSpPr txBox="1"/>
          <p:nvPr/>
        </p:nvSpPr>
        <p:spPr>
          <a:xfrm>
            <a:off x="4965192" y="3803904"/>
            <a:ext cx="310896" cy="310896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011" name="Text 1011"/>
          <p:cNvSpPr txBox="1"/>
          <p:nvPr/>
        </p:nvSpPr>
        <p:spPr>
          <a:xfrm>
            <a:off x="5404104" y="3730752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3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Answer with proof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“Can I change this rule?” is answered with citations to policy, tickets and verified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</a:p>
        </p:txBody>
      </p:sp>
      <p:sp>
        <p:nvSpPr>
          <p:cNvPr id="1012" name="Card 1012"/>
          <p:cNvSpPr/>
          <p:nvPr/>
        </p:nvSpPr>
        <p:spPr>
          <a:xfrm>
            <a:off x="347472" y="1115568"/>
            <a:ext cx="2694432" cy="373075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3" name="Text 1013"/>
          <p:cNvSpPr txBox="1"/>
          <p:nvPr/>
        </p:nvSpPr>
        <p:spPr>
          <a:xfrm>
            <a:off x="493776" y="1243584"/>
            <a:ext cx="240182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different is it from any of the other existing ideas?</a:t>
            </a:r>
          </a:p>
        </p:txBody>
      </p:sp>
      <p:sp>
        <p:nvSpPr>
          <p:cNvPr id="1014" name="Text 1014"/>
          <p:cNvSpPr txBox="1"/>
          <p:nvPr/>
        </p:nvSpPr>
        <p:spPr>
          <a:xfrm>
            <a:off x="493776" y="1865376"/>
            <a:ext cx="2401824" cy="2880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spcBef>
                <a:spcPts val="0"/>
              </a:spcBef>
              <a:spcAft>
                <a:spcPts val="5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Confluence, Rovo, Glean and Copilot retrieve what was written down. Policy Vault creates knowledge that was never written.</a:t>
            </a:r>
          </a:p>
          <a:p>
            <a:pPr marL="182880" indent="-182880" algn="l">
              <a:spcBef>
                <a:spcPts val="0"/>
              </a:spcBef>
              <a:spcAft>
                <a:spcPts val="5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Process-mining tools such as SAP Signavio show how a process runs. Policy Vault explains why a rule is configured that way.</a:t>
            </a:r>
          </a:p>
          <a:p>
            <a:pPr marL="182880" indent="-182880" algn="l">
              <a:spcBef>
                <a:spcPts val="0"/>
              </a:spcBef>
              <a:spcAft>
                <a:spcPts val="5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It checks the policy against the live system, not documents against documents.</a:t>
            </a:r>
          </a:p>
        </p:txBody>
      </p:sp>
      <p:sp>
        <p:nvSpPr>
          <p:cNvPr id="1015" name="Card 1015"/>
          <p:cNvSpPr/>
          <p:nvPr/>
        </p:nvSpPr>
        <p:spPr>
          <a:xfrm>
            <a:off x="3224784" y="1115568"/>
            <a:ext cx="2694432" cy="373075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6" name="Text 1016"/>
          <p:cNvSpPr txBox="1"/>
          <p:nvPr/>
        </p:nvSpPr>
        <p:spPr>
          <a:xfrm>
            <a:off x="3371088" y="1243584"/>
            <a:ext cx="240182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will it be able to solve the problem?</a:t>
            </a:r>
          </a:p>
        </p:txBody>
      </p:sp>
      <p:sp>
        <p:nvSpPr>
          <p:cNvPr id="1017" name="Text 1017"/>
          <p:cNvSpPr txBox="1"/>
          <p:nvPr/>
        </p:nvSpPr>
        <p:spPr>
          <a:xfrm>
            <a:off x="3371088" y="1865376"/>
            <a:ext cx="2401824" cy="2880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spcBef>
                <a:spcPts val="0"/>
              </a:spcBef>
              <a:spcAft>
                <a:spcPts val="500"/>
              </a:spcAft>
              <a:buClr>
                <a:srgbClr val="188038"/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scan compares every policy value with the configuration export.</a:t>
            </a:r>
          </a:p>
          <a:p>
            <a:pPr marL="182880" indent="-182880" algn="l">
              <a:spcBef>
                <a:spcPts val="0"/>
              </a:spcBef>
              <a:spcAft>
                <a:spcPts val="500"/>
              </a:spcAft>
              <a:buClr>
                <a:srgbClr val="188038"/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Each drift is traced to the ticket that caused it.</a:t>
            </a:r>
          </a:p>
          <a:p>
            <a:pPr marL="182880" indent="-182880" algn="l">
              <a:spcBef>
                <a:spcPts val="0"/>
              </a:spcBef>
              <a:spcAft>
                <a:spcPts val="500"/>
              </a:spcAft>
              <a:buClr>
                <a:srgbClr val="188038"/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gap finder lists rules nobody can explain; an evidence-led interview captures the reason.</a:t>
            </a:r>
          </a:p>
          <a:p>
            <a:pPr marL="182880" indent="-182880" algn="l">
              <a:spcBef>
                <a:spcPts val="0"/>
              </a:spcBef>
              <a:spcAft>
                <a:spcPts val="500"/>
              </a:spcAft>
              <a:buClr>
                <a:srgbClr val="188038"/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Decision Records answer every future “why”.</a:t>
            </a:r>
          </a:p>
        </p:txBody>
      </p:sp>
      <p:sp>
        <p:nvSpPr>
          <p:cNvPr id="1018" name="Card 1018"/>
          <p:cNvSpPr/>
          <p:nvPr/>
        </p:nvSpPr>
        <p:spPr>
          <a:xfrm>
            <a:off x="6102096" y="1115568"/>
            <a:ext cx="2694432" cy="373075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9" name="Text 1019"/>
          <p:cNvSpPr txBox="1"/>
          <p:nvPr/>
        </p:nvSpPr>
        <p:spPr>
          <a:xfrm>
            <a:off x="6248400" y="1243584"/>
            <a:ext cx="240182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E374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USP of the proposed solution</a:t>
            </a:r>
          </a:p>
        </p:txBody>
      </p:sp>
      <p:sp>
        <p:nvSpPr>
          <p:cNvPr id="1020" name="Text 1020"/>
          <p:cNvSpPr txBox="1"/>
          <p:nvPr/>
        </p:nvSpPr>
        <p:spPr>
          <a:xfrm>
            <a:off x="6248400" y="1865376"/>
            <a:ext cx="2401824" cy="2880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spcBef>
                <a:spcPts val="0"/>
              </a:spcBef>
              <a:spcAft>
                <a:spcPts val="500"/>
              </a:spcAft>
              <a:buClr>
                <a:srgbClr val="E37400"/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Elicitation, not just retrieval</a:t>
            </a:r>
          </a:p>
          <a:p>
            <a:pPr marL="182880" indent="-182880" algn="l">
              <a:spcBef>
                <a:spcPts val="0"/>
              </a:spcBef>
              <a:spcAft>
                <a:spcPts val="500"/>
              </a:spcAft>
              <a:buClr>
                <a:srgbClr val="E37400"/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“AI reads, code compares”: auditable value checks</a:t>
            </a:r>
          </a:p>
          <a:p>
            <a:pPr marL="182880" indent="-182880" algn="l">
              <a:spcBef>
                <a:spcPts val="0"/>
              </a:spcBef>
              <a:spcAft>
                <a:spcPts val="500"/>
              </a:spcAft>
              <a:buClr>
                <a:srgbClr val="E37400"/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claim carries evidence; “no record found” is an allowed answer</a:t>
            </a:r>
          </a:p>
          <a:p>
            <a:pPr marL="182880" indent="-182880" algn="l">
              <a:spcBef>
                <a:spcPts val="0"/>
              </a:spcBef>
              <a:spcAft>
                <a:spcPts val="500"/>
              </a:spcAft>
              <a:buClr>
                <a:srgbClr val="E37400"/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human verifies every record</a:t>
            </a:r>
          </a:p>
          <a:p>
            <a:pPr marL="182880" indent="-182880" algn="l">
              <a:spcBef>
                <a:spcPts val="0"/>
              </a:spcBef>
              <a:spcAft>
                <a:spcPts val="500"/>
              </a:spcAft>
              <a:buClr>
                <a:srgbClr val="E37400"/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engine, many domains: expense and inventory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List of features offered by the solution</a:t>
            </a:r>
          </a:p>
        </p:txBody>
      </p:sp>
      <p:sp>
        <p:nvSpPr>
          <p:cNvPr id="1021" name="Card 1021"/>
          <p:cNvSpPr/>
          <p:nvPr/>
        </p:nvSpPr>
        <p:spPr>
          <a:xfrm>
            <a:off x="347472" y="1115568"/>
            <a:ext cx="198882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2" name="Badge 1022"/>
          <p:cNvSpPr txBox="1"/>
          <p:nvPr/>
        </p:nvSpPr>
        <p:spPr>
          <a:xfrm>
            <a:off x="475488" y="1243584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023" name="Text 1023"/>
          <p:cNvSpPr txBox="1"/>
          <p:nvPr/>
        </p:nvSpPr>
        <p:spPr>
          <a:xfrm>
            <a:off x="475488" y="1572768"/>
            <a:ext cx="1732788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Drift detection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Policy PDF vs configuration export: policy value, system value and risk for every rule.</a:t>
            </a:r>
          </a:p>
        </p:txBody>
      </p:sp>
      <p:sp>
        <p:nvSpPr>
          <p:cNvPr id="1024" name="Card 1024"/>
          <p:cNvSpPr/>
          <p:nvPr/>
        </p:nvSpPr>
        <p:spPr>
          <a:xfrm>
            <a:off x="2500884" y="1115568"/>
            <a:ext cx="198882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5" name="Badge 1025"/>
          <p:cNvSpPr txBox="1"/>
          <p:nvPr/>
        </p:nvSpPr>
        <p:spPr>
          <a:xfrm>
            <a:off x="2628900" y="1243584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026" name="Text 1026"/>
          <p:cNvSpPr txBox="1"/>
          <p:nvPr/>
        </p:nvSpPr>
        <p:spPr>
          <a:xfrm>
            <a:off x="2628900" y="1572768"/>
            <a:ext cx="1732788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Root-cause finder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Links each drift to the ticket that caused it, or says “no record found, ask the expert”.</a:t>
            </a:r>
          </a:p>
        </p:txBody>
      </p:sp>
      <p:sp>
        <p:nvSpPr>
          <p:cNvPr id="1027" name="Card 1027"/>
          <p:cNvSpPr/>
          <p:nvPr/>
        </p:nvSpPr>
        <p:spPr>
          <a:xfrm>
            <a:off x="4654296" y="1115568"/>
            <a:ext cx="198882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8" name="Badge 1028"/>
          <p:cNvSpPr txBox="1"/>
          <p:nvPr/>
        </p:nvSpPr>
        <p:spPr>
          <a:xfrm>
            <a:off x="4782312" y="1243584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029" name="Text 1029"/>
          <p:cNvSpPr txBox="1"/>
          <p:nvPr/>
        </p:nvSpPr>
        <p:spPr>
          <a:xfrm>
            <a:off x="4782312" y="1572768"/>
            <a:ext cx="1732788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Evidence panel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Policy sentence, live configuration (who changed it, when) and ticket text side by side.</a:t>
            </a:r>
          </a:p>
        </p:txBody>
      </p:sp>
      <p:sp>
        <p:nvSpPr>
          <p:cNvPr id="1030" name="Card 1030"/>
          <p:cNvSpPr/>
          <p:nvPr/>
        </p:nvSpPr>
        <p:spPr>
          <a:xfrm>
            <a:off x="6807708" y="1115568"/>
            <a:ext cx="198882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1" name="Badge 1031"/>
          <p:cNvSpPr txBox="1"/>
          <p:nvPr/>
        </p:nvSpPr>
        <p:spPr>
          <a:xfrm>
            <a:off x="6935724" y="1243584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</a:t>
            </a:r>
          </a:p>
        </p:txBody>
      </p:sp>
      <p:sp>
        <p:nvSpPr>
          <p:cNvPr id="1032" name="Text 1032"/>
          <p:cNvSpPr txBox="1"/>
          <p:nvPr/>
        </p:nvSpPr>
        <p:spPr>
          <a:xfrm>
            <a:off x="6935724" y="1572768"/>
            <a:ext cx="1732788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Gap finder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Lists rules with no policy section and no ticket, plus drifts nobody can explain.</a:t>
            </a:r>
          </a:p>
        </p:txBody>
      </p:sp>
      <p:sp>
        <p:nvSpPr>
          <p:cNvPr id="1033" name="Card 1033"/>
          <p:cNvSpPr/>
          <p:nvPr/>
        </p:nvSpPr>
        <p:spPr>
          <a:xfrm>
            <a:off x="347472" y="2898648"/>
            <a:ext cx="198882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4" name="Badge 1034"/>
          <p:cNvSpPr txBox="1"/>
          <p:nvPr/>
        </p:nvSpPr>
        <p:spPr>
          <a:xfrm>
            <a:off x="475488" y="3026664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5</a:t>
            </a:r>
          </a:p>
        </p:txBody>
      </p:sp>
      <p:sp>
        <p:nvSpPr>
          <p:cNvPr id="1035" name="Text 1035"/>
          <p:cNvSpPr txBox="1"/>
          <p:nvPr/>
        </p:nvSpPr>
        <p:spPr>
          <a:xfrm>
            <a:off x="475488" y="3355848"/>
            <a:ext cx="1732788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Knowledge coverage meter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“13 of 17 rules have a known reason”, rising as records are added.</a:t>
            </a:r>
          </a:p>
        </p:txBody>
      </p:sp>
      <p:sp>
        <p:nvSpPr>
          <p:cNvPr id="1036" name="Card 1036"/>
          <p:cNvSpPr/>
          <p:nvPr/>
        </p:nvSpPr>
        <p:spPr>
          <a:xfrm>
            <a:off x="2500884" y="2898648"/>
            <a:ext cx="198882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7" name="Badge 1037"/>
          <p:cNvSpPr txBox="1"/>
          <p:nvPr/>
        </p:nvSpPr>
        <p:spPr>
          <a:xfrm>
            <a:off x="2628900" y="3026664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6</a:t>
            </a:r>
          </a:p>
        </p:txBody>
      </p:sp>
      <p:sp>
        <p:nvSpPr>
          <p:cNvPr id="1038" name="Text 1038"/>
          <p:cNvSpPr txBox="1"/>
          <p:nvPr/>
        </p:nvSpPr>
        <p:spPr>
          <a:xfrm>
            <a:off x="2628900" y="3355848"/>
            <a:ext cx="1732788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Evidence-led interview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Asks the expert with clues: “hidden 3 days after TKT-1135 reported ERP failures. Related?”</a:t>
            </a:r>
          </a:p>
        </p:txBody>
      </p:sp>
      <p:sp>
        <p:nvSpPr>
          <p:cNvPr id="1039" name="Card 1039"/>
          <p:cNvSpPr/>
          <p:nvPr/>
        </p:nvSpPr>
        <p:spPr>
          <a:xfrm>
            <a:off x="4654296" y="2898648"/>
            <a:ext cx="198882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40" name="Badge 1040"/>
          <p:cNvSpPr txBox="1"/>
          <p:nvPr/>
        </p:nvSpPr>
        <p:spPr>
          <a:xfrm>
            <a:off x="4782312" y="3026664"/>
            <a:ext cx="274320" cy="27432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7</a:t>
            </a:r>
          </a:p>
        </p:txBody>
      </p:sp>
      <p:sp>
        <p:nvSpPr>
          <p:cNvPr id="1041" name="Text 1041"/>
          <p:cNvSpPr txBox="1"/>
          <p:nvPr/>
        </p:nvSpPr>
        <p:spPr>
          <a:xfrm>
            <a:off x="4782312" y="3355848"/>
            <a:ext cx="1732788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Verified Decision Records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What, why, who, when, sources and risk if removed; saved in Firestore and indexed for search.</a:t>
            </a:r>
          </a:p>
        </p:txBody>
      </p:sp>
      <p:sp>
        <p:nvSpPr>
          <p:cNvPr id="1042" name="Card 1042"/>
          <p:cNvSpPr/>
          <p:nvPr/>
        </p:nvSpPr>
        <p:spPr>
          <a:xfrm>
            <a:off x="6807708" y="2898648"/>
            <a:ext cx="1988820" cy="162763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43" name="Badge 1043"/>
          <p:cNvSpPr txBox="1"/>
          <p:nvPr/>
        </p:nvSpPr>
        <p:spPr>
          <a:xfrm>
            <a:off x="6935724" y="3026664"/>
            <a:ext cx="274320" cy="27432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8</a:t>
            </a:r>
          </a:p>
        </p:txBody>
      </p:sp>
      <p:sp>
        <p:nvSpPr>
          <p:cNvPr id="1044" name="Text 1044"/>
          <p:cNvSpPr txBox="1"/>
          <p:nvPr/>
        </p:nvSpPr>
        <p:spPr>
          <a:xfrm>
            <a:off x="6935724" y="3355848"/>
            <a:ext cx="1732788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Ask Why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Grounded answers citing policy, tickets and records; admits when there is no recorded rationale.</a:t>
            </a:r>
          </a:p>
        </p:txBody>
      </p:sp>
      <p:sp>
        <p:nvSpPr>
          <p:cNvPr id="1045" name="Text 1045"/>
          <p:cNvSpPr txBox="1"/>
          <p:nvPr/>
        </p:nvSpPr>
        <p:spPr>
          <a:xfrm>
            <a:off x="347472" y="4553712"/>
            <a:ext cx="84490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Domain packs: </a:t>
            </a: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expense and inventory run on the same engine with no code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Process flow diagram or Use-case diagram</a:t>
            </a:r>
          </a:p>
        </p:txBody>
      </p:sp>
      <p:sp>
        <p:nvSpPr>
          <p:cNvPr id="1046" name="Text 1046"/>
          <p:cNvSpPr txBox="1"/>
          <p:nvPr/>
        </p:nvSpPr>
        <p:spPr>
          <a:xfrm>
            <a:off x="347472" y="1170432"/>
            <a:ext cx="932688" cy="1298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Detect</a:t>
            </a:r>
          </a:p>
        </p:txBody>
      </p:sp>
      <p:sp>
        <p:nvSpPr>
          <p:cNvPr id="1047" name="Card 1047"/>
          <p:cNvSpPr/>
          <p:nvPr/>
        </p:nvSpPr>
        <p:spPr>
          <a:xfrm>
            <a:off x="1371600" y="1170432"/>
            <a:ext cx="1636776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48" name="Text 1048"/>
          <p:cNvSpPr txBox="1"/>
          <p:nvPr/>
        </p:nvSpPr>
        <p:spPr>
          <a:xfrm>
            <a:off x="1463040" y="1243584"/>
            <a:ext cx="1453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  Load domain pack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Policy PDF, configuration export, ticket history</a:t>
            </a:r>
          </a:p>
        </p:txBody>
      </p:sp>
      <p:sp>
        <p:nvSpPr>
          <p:cNvPr id="1049" name="Tag 1049"/>
          <p:cNvSpPr txBox="1"/>
          <p:nvPr/>
        </p:nvSpPr>
        <p:spPr>
          <a:xfrm>
            <a:off x="1463040" y="2176272"/>
            <a:ext cx="566928" cy="201168"/>
          </a:xfrm>
          <a:prstGeom prst="roundRect">
            <a:avLst>
              <a:gd name="adj" fmla="val 8000"/>
            </a:avLst>
          </a:prstGeom>
          <a:solidFill>
            <a:srgbClr val="E8EAE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Input</a:t>
            </a:r>
          </a:p>
        </p:txBody>
      </p:sp>
      <p:cxnSp>
        <p:nvCxnSpPr>
          <p:cNvPr id="1050" name="Arrow 1050"/>
          <p:cNvCxnSpPr/>
          <p:nvPr/>
        </p:nvCxnSpPr>
        <p:spPr>
          <a:xfrm>
            <a:off x="3044952" y="1819656"/>
            <a:ext cx="219456" cy="0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sp>
        <p:nvSpPr>
          <p:cNvPr id="1051" name="Card 1051"/>
          <p:cNvSpPr/>
          <p:nvPr/>
        </p:nvSpPr>
        <p:spPr>
          <a:xfrm>
            <a:off x="3300984" y="1170432"/>
            <a:ext cx="1636776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52" name="Text 1052"/>
          <p:cNvSpPr txBox="1"/>
          <p:nvPr/>
        </p:nvSpPr>
        <p:spPr>
          <a:xfrm>
            <a:off x="3392424" y="1243584"/>
            <a:ext cx="1453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  Extract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reads the policy into structured rules</a:t>
            </a:r>
          </a:p>
        </p:txBody>
      </p:sp>
      <p:sp>
        <p:nvSpPr>
          <p:cNvPr id="1053" name="Tag 1053"/>
          <p:cNvSpPr txBox="1"/>
          <p:nvPr/>
        </p:nvSpPr>
        <p:spPr>
          <a:xfrm>
            <a:off x="3392424" y="2176272"/>
            <a:ext cx="566928" cy="2011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</a:t>
            </a:r>
          </a:p>
        </p:txBody>
      </p:sp>
      <p:cxnSp>
        <p:nvCxnSpPr>
          <p:cNvPr id="1054" name="Arrow 1054"/>
          <p:cNvCxnSpPr/>
          <p:nvPr/>
        </p:nvCxnSpPr>
        <p:spPr>
          <a:xfrm>
            <a:off x="4974336" y="1819656"/>
            <a:ext cx="219456" cy="0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sp>
        <p:nvSpPr>
          <p:cNvPr id="1055" name="Card 1055"/>
          <p:cNvSpPr/>
          <p:nvPr/>
        </p:nvSpPr>
        <p:spPr>
          <a:xfrm>
            <a:off x="5230368" y="1170432"/>
            <a:ext cx="1636776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56" name="Text 1056"/>
          <p:cNvSpPr txBox="1"/>
          <p:nvPr/>
        </p:nvSpPr>
        <p:spPr>
          <a:xfrm>
            <a:off x="5321808" y="1243584"/>
            <a:ext cx="1453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  Compare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Python checks every value and unit</a:t>
            </a:r>
          </a:p>
        </p:txBody>
      </p:sp>
      <p:sp>
        <p:nvSpPr>
          <p:cNvPr id="1057" name="Tag 1057"/>
          <p:cNvSpPr txBox="1"/>
          <p:nvPr/>
        </p:nvSpPr>
        <p:spPr>
          <a:xfrm>
            <a:off x="5321808" y="2176272"/>
            <a:ext cx="566928" cy="201168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Code</a:t>
            </a:r>
          </a:p>
        </p:txBody>
      </p:sp>
      <p:cxnSp>
        <p:nvCxnSpPr>
          <p:cNvPr id="1058" name="Arrow 1058"/>
          <p:cNvCxnSpPr/>
          <p:nvPr/>
        </p:nvCxnSpPr>
        <p:spPr>
          <a:xfrm>
            <a:off x="6903720" y="1819656"/>
            <a:ext cx="219456" cy="0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sp>
        <p:nvSpPr>
          <p:cNvPr id="1059" name="Card 1059"/>
          <p:cNvSpPr/>
          <p:nvPr/>
        </p:nvSpPr>
        <p:spPr>
          <a:xfrm>
            <a:off x="7159752" y="1170432"/>
            <a:ext cx="1636776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0" name="Text 1060"/>
          <p:cNvSpPr txBox="1"/>
          <p:nvPr/>
        </p:nvSpPr>
        <p:spPr>
          <a:xfrm>
            <a:off x="7251192" y="1243584"/>
            <a:ext cx="1453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  Explain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reads the ticket history and names the root-cause ticket</a:t>
            </a:r>
          </a:p>
        </p:txBody>
      </p:sp>
      <p:sp>
        <p:nvSpPr>
          <p:cNvPr id="1061" name="Tag 1061"/>
          <p:cNvSpPr txBox="1"/>
          <p:nvPr/>
        </p:nvSpPr>
        <p:spPr>
          <a:xfrm>
            <a:off x="7251192" y="2176272"/>
            <a:ext cx="566928" cy="2011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</a:t>
            </a:r>
          </a:p>
        </p:txBody>
      </p:sp>
      <p:sp>
        <p:nvSpPr>
          <p:cNvPr id="1062" name="Text 1062"/>
          <p:cNvSpPr txBox="1"/>
          <p:nvPr/>
        </p:nvSpPr>
        <p:spPr>
          <a:xfrm>
            <a:off x="347472" y="2889504"/>
            <a:ext cx="932688" cy="1298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Capture &amp; answer</a:t>
            </a:r>
          </a:p>
        </p:txBody>
      </p:sp>
      <p:sp>
        <p:nvSpPr>
          <p:cNvPr id="1063" name="Card 1063"/>
          <p:cNvSpPr/>
          <p:nvPr/>
        </p:nvSpPr>
        <p:spPr>
          <a:xfrm>
            <a:off x="1371600" y="2889504"/>
            <a:ext cx="1636776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4" name="Text 1064"/>
          <p:cNvSpPr txBox="1"/>
          <p:nvPr/>
        </p:nvSpPr>
        <p:spPr>
          <a:xfrm>
            <a:off x="1463040" y="2962656"/>
            <a:ext cx="1453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5  Find gaps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Rules with no policy section and no ticket</a:t>
            </a:r>
          </a:p>
        </p:txBody>
      </p:sp>
      <p:sp>
        <p:nvSpPr>
          <p:cNvPr id="1065" name="Tag 1065"/>
          <p:cNvSpPr txBox="1"/>
          <p:nvPr/>
        </p:nvSpPr>
        <p:spPr>
          <a:xfrm>
            <a:off x="1463040" y="3895344"/>
            <a:ext cx="566928" cy="201168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Code</a:t>
            </a:r>
          </a:p>
        </p:txBody>
      </p:sp>
      <p:cxnSp>
        <p:nvCxnSpPr>
          <p:cNvPr id="1066" name="Arrow 1066"/>
          <p:cNvCxnSpPr/>
          <p:nvPr/>
        </p:nvCxnSpPr>
        <p:spPr>
          <a:xfrm>
            <a:off x="3044952" y="3538728"/>
            <a:ext cx="219456" cy="0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sp>
        <p:nvSpPr>
          <p:cNvPr id="1067" name="Card 1067"/>
          <p:cNvSpPr/>
          <p:nvPr/>
        </p:nvSpPr>
        <p:spPr>
          <a:xfrm>
            <a:off x="3300984" y="2889504"/>
            <a:ext cx="1636776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8" name="Text 1068"/>
          <p:cNvSpPr txBox="1"/>
          <p:nvPr/>
        </p:nvSpPr>
        <p:spPr>
          <a:xfrm>
            <a:off x="3392424" y="2962656"/>
            <a:ext cx="1453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6  Interview expert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Evidence-led question with Vertex AI Search and date clues</a:t>
            </a:r>
          </a:p>
        </p:txBody>
      </p:sp>
      <p:sp>
        <p:nvSpPr>
          <p:cNvPr id="1069" name="Tag 1069"/>
          <p:cNvSpPr txBox="1"/>
          <p:nvPr/>
        </p:nvSpPr>
        <p:spPr>
          <a:xfrm>
            <a:off x="3392424" y="3895344"/>
            <a:ext cx="868680" cy="2011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 + expert</a:t>
            </a:r>
          </a:p>
        </p:txBody>
      </p:sp>
      <p:cxnSp>
        <p:nvCxnSpPr>
          <p:cNvPr id="1070" name="Arrow 1070"/>
          <p:cNvCxnSpPr/>
          <p:nvPr/>
        </p:nvCxnSpPr>
        <p:spPr>
          <a:xfrm>
            <a:off x="4974336" y="3538728"/>
            <a:ext cx="219456" cy="0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sp>
        <p:nvSpPr>
          <p:cNvPr id="1071" name="Card 1071"/>
          <p:cNvSpPr/>
          <p:nvPr/>
        </p:nvSpPr>
        <p:spPr>
          <a:xfrm>
            <a:off x="5230368" y="2889504"/>
            <a:ext cx="1636776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2" name="Text 1072"/>
          <p:cNvSpPr txBox="1"/>
          <p:nvPr/>
        </p:nvSpPr>
        <p:spPr>
          <a:xfrm>
            <a:off x="5321808" y="2962656"/>
            <a:ext cx="1453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7  Verify record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Expert answer becomes a Decision Record</a:t>
            </a:r>
          </a:p>
        </p:txBody>
      </p:sp>
      <p:sp>
        <p:nvSpPr>
          <p:cNvPr id="1073" name="Tag 1073"/>
          <p:cNvSpPr txBox="1"/>
          <p:nvPr/>
        </p:nvSpPr>
        <p:spPr>
          <a:xfrm>
            <a:off x="5321808" y="3895344"/>
            <a:ext cx="566928" cy="201168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E374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Human</a:t>
            </a:r>
          </a:p>
        </p:txBody>
      </p:sp>
      <p:cxnSp>
        <p:nvCxnSpPr>
          <p:cNvPr id="1074" name="Arrow 1074"/>
          <p:cNvCxnSpPr/>
          <p:nvPr/>
        </p:nvCxnSpPr>
        <p:spPr>
          <a:xfrm>
            <a:off x="6903720" y="3538728"/>
            <a:ext cx="219456" cy="0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sp>
        <p:nvSpPr>
          <p:cNvPr id="1075" name="Card 1075"/>
          <p:cNvSpPr/>
          <p:nvPr/>
        </p:nvSpPr>
        <p:spPr>
          <a:xfrm>
            <a:off x="7159752" y="2889504"/>
            <a:ext cx="1636776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6" name="Text 1076"/>
          <p:cNvSpPr txBox="1"/>
          <p:nvPr/>
        </p:nvSpPr>
        <p:spPr>
          <a:xfrm>
            <a:off x="7251192" y="2962656"/>
            <a:ext cx="1453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8  Ask Why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Grounded answer with cited sources</a:t>
            </a:r>
          </a:p>
        </p:txBody>
      </p:sp>
      <p:sp>
        <p:nvSpPr>
          <p:cNvPr id="1077" name="Tag 1077"/>
          <p:cNvSpPr txBox="1"/>
          <p:nvPr/>
        </p:nvSpPr>
        <p:spPr>
          <a:xfrm>
            <a:off x="7251192" y="3895344"/>
            <a:ext cx="566928" cy="2011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</a:t>
            </a:r>
          </a:p>
        </p:txBody>
      </p:sp>
      <p:cxnSp>
        <p:nvCxnSpPr>
          <p:cNvPr id="1078" name="Arrow 1078"/>
          <p:cNvCxnSpPr/>
          <p:nvPr/>
        </p:nvCxnSpPr>
        <p:spPr>
          <a:xfrm>
            <a:off x="7978140" y="2496312"/>
            <a:ext cx="0" cy="182880"/>
          </a:xfrm>
          <a:prstGeom prst="straightConnector1">
            <a:avLst/>
          </a:prstGeom>
          <a:ln w="15875">
            <a:solidFill>
              <a:srgbClr val="5F6368"/>
            </a:solidFill>
          </a:ln>
        </p:spPr>
      </p:cxnSp>
      <p:cxnSp>
        <p:nvCxnSpPr>
          <p:cNvPr id="1079" name="Arrow 1079"/>
          <p:cNvCxnSpPr/>
          <p:nvPr/>
        </p:nvCxnSpPr>
        <p:spPr>
          <a:xfrm flipH="1">
            <a:off x="2189988" y="2679192"/>
            <a:ext cx="5788152" cy="0"/>
          </a:xfrm>
          <a:prstGeom prst="straightConnector1">
            <a:avLst/>
          </a:prstGeom>
          <a:ln w="15875">
            <a:solidFill>
              <a:srgbClr val="5F6368"/>
            </a:solidFill>
          </a:ln>
        </p:spPr>
      </p:cxnSp>
      <p:cxnSp>
        <p:nvCxnSpPr>
          <p:cNvPr id="1080" name="Arrow 1080"/>
          <p:cNvCxnSpPr/>
          <p:nvPr/>
        </p:nvCxnSpPr>
        <p:spPr>
          <a:xfrm>
            <a:off x="2189988" y="2679192"/>
            <a:ext cx="0" cy="182880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sp>
        <p:nvSpPr>
          <p:cNvPr id="1081" name="Text 1081"/>
          <p:cNvSpPr txBox="1"/>
          <p:nvPr/>
        </p:nvSpPr>
        <p:spPr>
          <a:xfrm>
            <a:off x="347472" y="4370832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E374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Human in the loop: </a:t>
            </a: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proposes, code decides the numbers, and no Decision Record exists until a person verifies it. Drifts with no known reason feed the gap finder.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Wireframes/Mock diagrams of the proposed solution (optional)</a:t>
            </a:r>
          </a:p>
        </p:txBody>
      </p:sp>
      <p:pic>
        <p:nvPicPr>
          <p:cNvPr id="1082" name="Screenshot 1082" descr="01_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115568"/>
            <a:ext cx="4846320" cy="302895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83" name="Text 1083"/>
          <p:cNvSpPr txBox="1"/>
          <p:nvPr/>
        </p:nvSpPr>
        <p:spPr>
          <a:xfrm>
            <a:off x="5468112" y="1115568"/>
            <a:ext cx="3328416" cy="3566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3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One page, top to bottom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Header: </a:t>
            </a:r>
            <a:r>
              <a:rPr lang="en-GB" sz="10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domain switch (Expense / Inventory) and the expert’s handover ticket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  Drift detection: </a:t>
            </a:r>
            <a:r>
              <a:rPr lang="en-GB" sz="10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scan button, live step timings, summary tiles, drift table with evidence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  Gap finder &amp; interview: </a:t>
            </a:r>
            <a:r>
              <a:rPr lang="en-GB" sz="10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unexplained rules, clues, question, expert answer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  Decision Records: </a:t>
            </a:r>
            <a:r>
              <a:rPr lang="en-GB" sz="10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coverage meter and verified records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  Ask the Vault: </a:t>
            </a:r>
            <a:r>
              <a:rPr lang="en-GB" sz="10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question box, answer, source chips</a:t>
            </a:r>
          </a:p>
        </p:txBody>
      </p:sp>
      <p:sp>
        <p:nvSpPr>
          <p:cNvPr id="1084" name="Text 1084"/>
          <p:cNvSpPr txBox="1"/>
          <p:nvPr/>
        </p:nvSpPr>
        <p:spPr>
          <a:xfrm>
            <a:off x="347472" y="4199382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Landing screen of the deployed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Architecture diagram of the proposed solution</a:t>
            </a:r>
          </a:p>
        </p:txBody>
      </p:sp>
      <p:sp>
        <p:nvSpPr>
          <p:cNvPr id="1085" name="Text 1085"/>
          <p:cNvSpPr txBox="1"/>
          <p:nvPr/>
        </p:nvSpPr>
        <p:spPr>
          <a:xfrm>
            <a:off x="347472" y="1234440"/>
            <a:ext cx="13716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Browser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new admin / expert</a:t>
            </a:r>
          </a:p>
        </p:txBody>
      </p:sp>
      <p:sp>
        <p:nvSpPr>
          <p:cNvPr id="1086" name="Text 1086"/>
          <p:cNvSpPr txBox="1"/>
          <p:nvPr/>
        </p:nvSpPr>
        <p:spPr>
          <a:xfrm>
            <a:off x="347472" y="2057400"/>
            <a:ext cx="13716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Domain pack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policy.pdf · config_rules.csv · tickets.json</a:t>
            </a:r>
          </a:p>
        </p:txBody>
      </p:sp>
      <p:cxnSp>
        <p:nvCxnSpPr>
          <p:cNvPr id="1087" name="Arrow 1087"/>
          <p:cNvCxnSpPr/>
          <p:nvPr/>
        </p:nvCxnSpPr>
        <p:spPr>
          <a:xfrm>
            <a:off x="1746504" y="1536192"/>
            <a:ext cx="329184" cy="0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cxnSp>
        <p:nvCxnSpPr>
          <p:cNvPr id="1088" name="Arrow 1088"/>
          <p:cNvCxnSpPr/>
          <p:nvPr/>
        </p:nvCxnSpPr>
        <p:spPr>
          <a:xfrm>
            <a:off x="1746504" y="2414016"/>
            <a:ext cx="329184" cy="0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sp>
        <p:nvSpPr>
          <p:cNvPr id="1089" name="Card 1089"/>
          <p:cNvSpPr/>
          <p:nvPr/>
        </p:nvSpPr>
        <p:spPr>
          <a:xfrm>
            <a:off x="2103120" y="1115568"/>
            <a:ext cx="6693408" cy="17830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A8C7FA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90" name="Text 1090"/>
          <p:cNvSpPr txBox="1"/>
          <p:nvPr/>
        </p:nvSpPr>
        <p:spPr>
          <a:xfrm>
            <a:off x="2240280" y="1188720"/>
            <a:ext cx="641908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Run</a:t>
            </a: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 one Flask service: UI + JSON API · asia-south1</a:t>
            </a:r>
          </a:p>
        </p:txBody>
      </p:sp>
      <p:sp>
        <p:nvSpPr>
          <p:cNvPr id="1091" name="Text 1091"/>
          <p:cNvSpPr txBox="1"/>
          <p:nvPr/>
        </p:nvSpPr>
        <p:spPr>
          <a:xfrm>
            <a:off x="2240280" y="1591056"/>
            <a:ext cx="119603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extract.py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policy PDF → rules</a:t>
            </a:r>
          </a:p>
        </p:txBody>
      </p:sp>
      <p:sp>
        <p:nvSpPr>
          <p:cNvPr id="1092" name="Text 1092"/>
          <p:cNvSpPr txBox="1"/>
          <p:nvPr/>
        </p:nvSpPr>
        <p:spPr>
          <a:xfrm>
            <a:off x="3546043" y="1591056"/>
            <a:ext cx="119603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drift.py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 + root cause</a:t>
            </a:r>
          </a:p>
        </p:txBody>
      </p:sp>
      <p:sp>
        <p:nvSpPr>
          <p:cNvPr id="1093" name="Text 1093"/>
          <p:cNvSpPr txBox="1"/>
          <p:nvPr/>
        </p:nvSpPr>
        <p:spPr>
          <a:xfrm>
            <a:off x="4851806" y="1591056"/>
            <a:ext cx="119603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gaps.py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gaps, interview, draft</a:t>
            </a:r>
          </a:p>
        </p:txBody>
      </p:sp>
      <p:sp>
        <p:nvSpPr>
          <p:cNvPr id="1094" name="Text 1094"/>
          <p:cNvSpPr txBox="1"/>
          <p:nvPr/>
        </p:nvSpPr>
        <p:spPr>
          <a:xfrm>
            <a:off x="6157570" y="1591056"/>
            <a:ext cx="119603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records.py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Decision Records</a:t>
            </a:r>
          </a:p>
        </p:txBody>
      </p:sp>
      <p:sp>
        <p:nvSpPr>
          <p:cNvPr id="1095" name="Text 1095"/>
          <p:cNvSpPr txBox="1"/>
          <p:nvPr/>
        </p:nvSpPr>
        <p:spPr>
          <a:xfrm>
            <a:off x="7463333" y="1591056"/>
            <a:ext cx="119603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ask_why.py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grounded answers</a:t>
            </a:r>
          </a:p>
        </p:txBody>
      </p:sp>
      <p:cxnSp>
        <p:nvCxnSpPr>
          <p:cNvPr id="1096" name="Arrow 1096"/>
          <p:cNvCxnSpPr/>
          <p:nvPr/>
        </p:nvCxnSpPr>
        <p:spPr>
          <a:xfrm>
            <a:off x="2878074" y="2926080"/>
            <a:ext cx="0" cy="356616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sp>
        <p:nvSpPr>
          <p:cNvPr id="1097" name="Card 1097"/>
          <p:cNvSpPr/>
          <p:nvPr/>
        </p:nvSpPr>
        <p:spPr>
          <a:xfrm>
            <a:off x="2103120" y="3310128"/>
            <a:ext cx="154990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8" name="Badge 1098"/>
          <p:cNvSpPr txBox="1"/>
          <p:nvPr/>
        </p:nvSpPr>
        <p:spPr>
          <a:xfrm>
            <a:off x="2212848" y="342900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Text 1099"/>
          <p:cNvSpPr txBox="1"/>
          <p:nvPr/>
        </p:nvSpPr>
        <p:spPr>
          <a:xfrm>
            <a:off x="2487168" y="3383280"/>
            <a:ext cx="109270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Gemini on Vertex AI</a:t>
            </a:r>
          </a:p>
        </p:txBody>
      </p:sp>
      <p:sp>
        <p:nvSpPr>
          <p:cNvPr id="1100" name="Text 1100"/>
          <p:cNvSpPr txBox="1"/>
          <p:nvPr/>
        </p:nvSpPr>
        <p:spPr>
          <a:xfrm>
            <a:off x="2212848" y="3749040"/>
            <a:ext cx="13304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gemini-3.5-flash: extraction, root cause, interview, answers</a:t>
            </a:r>
          </a:p>
        </p:txBody>
      </p:sp>
      <p:cxnSp>
        <p:nvCxnSpPr>
          <p:cNvPr id="1101" name="Arrow 1101"/>
          <p:cNvCxnSpPr/>
          <p:nvPr/>
        </p:nvCxnSpPr>
        <p:spPr>
          <a:xfrm>
            <a:off x="4592574" y="2926080"/>
            <a:ext cx="0" cy="356616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sp>
        <p:nvSpPr>
          <p:cNvPr id="1102" name="Card 1102"/>
          <p:cNvSpPr/>
          <p:nvPr/>
        </p:nvSpPr>
        <p:spPr>
          <a:xfrm>
            <a:off x="3817620" y="3310128"/>
            <a:ext cx="154990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3" name="Badge 1103"/>
          <p:cNvSpPr txBox="1"/>
          <p:nvPr/>
        </p:nvSpPr>
        <p:spPr>
          <a:xfrm>
            <a:off x="3927348" y="3429000"/>
            <a:ext cx="219456" cy="219456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Text 1104"/>
          <p:cNvSpPr txBox="1"/>
          <p:nvPr/>
        </p:nvSpPr>
        <p:spPr>
          <a:xfrm>
            <a:off x="4201668" y="3383280"/>
            <a:ext cx="109270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Vertex AI Search</a:t>
            </a:r>
          </a:p>
        </p:txBody>
      </p:sp>
      <p:sp>
        <p:nvSpPr>
          <p:cNvPr id="1105" name="Text 1105"/>
          <p:cNvSpPr txBox="1"/>
          <p:nvPr/>
        </p:nvSpPr>
        <p:spPr>
          <a:xfrm>
            <a:off x="3927348" y="3749040"/>
            <a:ext cx="13304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policy, tickets and Decision Records; grounding with sources</a:t>
            </a:r>
          </a:p>
        </p:txBody>
      </p:sp>
      <p:cxnSp>
        <p:nvCxnSpPr>
          <p:cNvPr id="1106" name="Arrow 1106"/>
          <p:cNvCxnSpPr/>
          <p:nvPr/>
        </p:nvCxnSpPr>
        <p:spPr>
          <a:xfrm>
            <a:off x="6307074" y="2926080"/>
            <a:ext cx="0" cy="356616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sp>
        <p:nvSpPr>
          <p:cNvPr id="1107" name="Card 1107"/>
          <p:cNvSpPr/>
          <p:nvPr/>
        </p:nvSpPr>
        <p:spPr>
          <a:xfrm>
            <a:off x="5532120" y="3310128"/>
            <a:ext cx="154990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8" name="Badge 1108"/>
          <p:cNvSpPr txBox="1"/>
          <p:nvPr/>
        </p:nvSpPr>
        <p:spPr>
          <a:xfrm>
            <a:off x="5641848" y="3429000"/>
            <a:ext cx="219456" cy="219456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Text 1109"/>
          <p:cNvSpPr txBox="1"/>
          <p:nvPr/>
        </p:nvSpPr>
        <p:spPr>
          <a:xfrm>
            <a:off x="5916168" y="3383280"/>
            <a:ext cx="109270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Firestore</a:t>
            </a:r>
          </a:p>
        </p:txBody>
      </p:sp>
      <p:sp>
        <p:nvSpPr>
          <p:cNvPr id="1110" name="Text 1110"/>
          <p:cNvSpPr txBox="1"/>
          <p:nvPr/>
        </p:nvSpPr>
        <p:spPr>
          <a:xfrm>
            <a:off x="5641848" y="3749040"/>
            <a:ext cx="13304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verified Decision Records (local fallback)</a:t>
            </a:r>
          </a:p>
        </p:txBody>
      </p:sp>
      <p:cxnSp>
        <p:nvCxnSpPr>
          <p:cNvPr id="1111" name="Arrow 1111"/>
          <p:cNvCxnSpPr/>
          <p:nvPr/>
        </p:nvCxnSpPr>
        <p:spPr>
          <a:xfrm>
            <a:off x="8021574" y="2926080"/>
            <a:ext cx="0" cy="356616"/>
          </a:xfrm>
          <a:prstGeom prst="straightConnector1">
            <a:avLst/>
          </a:prstGeom>
          <a:ln w="15875">
            <a:solidFill>
              <a:srgbClr val="5F6368"/>
            </a:solidFill>
            <a:tailEnd type="triangle" w="med" len="med"/>
          </a:ln>
        </p:spPr>
      </p:cxnSp>
      <p:sp>
        <p:nvSpPr>
          <p:cNvPr id="1112" name="Card 1112"/>
          <p:cNvSpPr/>
          <p:nvPr/>
        </p:nvSpPr>
        <p:spPr>
          <a:xfrm>
            <a:off x="7246620" y="3310128"/>
            <a:ext cx="154990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13" name="Badge 1113"/>
          <p:cNvSpPr txBox="1"/>
          <p:nvPr/>
        </p:nvSpPr>
        <p:spPr>
          <a:xfrm>
            <a:off x="7356348" y="3429000"/>
            <a:ext cx="219456" cy="21945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Text 1114"/>
          <p:cNvSpPr txBox="1"/>
          <p:nvPr/>
        </p:nvSpPr>
        <p:spPr>
          <a:xfrm>
            <a:off x="7630668" y="3383280"/>
            <a:ext cx="109270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Storage</a:t>
            </a:r>
          </a:p>
        </p:txBody>
      </p:sp>
      <p:sp>
        <p:nvSpPr>
          <p:cNvPr id="1115" name="Text 1115"/>
          <p:cNvSpPr txBox="1"/>
          <p:nvPr/>
        </p:nvSpPr>
        <p:spPr>
          <a:xfrm>
            <a:off x="7356348" y="3749040"/>
            <a:ext cx="13304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search corpus; new records imported into search</a:t>
            </a:r>
          </a:p>
        </p:txBody>
      </p:sp>
      <p:sp>
        <p:nvSpPr>
          <p:cNvPr id="1116" name="Text 1116"/>
          <p:cNvSpPr txBox="1"/>
          <p:nvPr/>
        </p:nvSpPr>
        <p:spPr>
          <a:xfrm>
            <a:off x="347472" y="3310128"/>
            <a:ext cx="14630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Guard-rails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Answer key never reaches a prompt. IDs are schema enums. Search timeout and saved-scan fallback.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Technologies to be used in the solution</a:t>
            </a:r>
          </a:p>
        </p:txBody>
      </p:sp>
      <p:sp>
        <p:nvSpPr>
          <p:cNvPr id="1117" name="Card 1117"/>
          <p:cNvSpPr/>
          <p:nvPr/>
        </p:nvSpPr>
        <p:spPr>
          <a:xfrm>
            <a:off x="347472" y="1115568"/>
            <a:ext cx="2694432" cy="1783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18" name="Badge 1118"/>
          <p:cNvSpPr txBox="1"/>
          <p:nvPr/>
        </p:nvSpPr>
        <p:spPr>
          <a:xfrm>
            <a:off x="493776" y="128016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Text 1119"/>
          <p:cNvSpPr txBox="1"/>
          <p:nvPr/>
        </p:nvSpPr>
        <p:spPr>
          <a:xfrm>
            <a:off x="786384" y="1207008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Gemini on Vertex AI</a:t>
            </a:r>
          </a:p>
        </p:txBody>
      </p:sp>
      <p:sp>
        <p:nvSpPr>
          <p:cNvPr id="1120" name="Text 1120"/>
          <p:cNvSpPr txBox="1"/>
          <p:nvPr/>
        </p:nvSpPr>
        <p:spPr>
          <a:xfrm>
            <a:off x="493776" y="1645920"/>
            <a:ext cx="24018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gemini-3.5-flash reads the policy PDF directly into JSON (schema with enum rule and ticket IDs), finds root causes, writes interview questions and answers Ask Why.</a:t>
            </a:r>
          </a:p>
        </p:txBody>
      </p:sp>
      <p:sp>
        <p:nvSpPr>
          <p:cNvPr id="1121" name="Card 1121"/>
          <p:cNvSpPr/>
          <p:nvPr/>
        </p:nvSpPr>
        <p:spPr>
          <a:xfrm>
            <a:off x="3224784" y="1115568"/>
            <a:ext cx="2694432" cy="1783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2" name="Badge 1122"/>
          <p:cNvSpPr txBox="1"/>
          <p:nvPr/>
        </p:nvSpPr>
        <p:spPr>
          <a:xfrm>
            <a:off x="3371088" y="1280160"/>
            <a:ext cx="219456" cy="219456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Text 1123"/>
          <p:cNvSpPr txBox="1"/>
          <p:nvPr/>
        </p:nvSpPr>
        <p:spPr>
          <a:xfrm>
            <a:off x="3663696" y="1207008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Vertex AI Search</a:t>
            </a:r>
          </a:p>
        </p:txBody>
      </p:sp>
      <p:sp>
        <p:nvSpPr>
          <p:cNvPr id="1124" name="Text 1124"/>
          <p:cNvSpPr txBox="1"/>
          <p:nvPr/>
        </p:nvSpPr>
        <p:spPr>
          <a:xfrm>
            <a:off x="3371088" y="1645920"/>
            <a:ext cx="24018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Indexes policy, tickets and Decision Records (layout parser, chunking). Grounds Ask Why, so sources come from grounding metadata, not model text.</a:t>
            </a:r>
          </a:p>
        </p:txBody>
      </p:sp>
      <p:sp>
        <p:nvSpPr>
          <p:cNvPr id="1125" name="Card 1125"/>
          <p:cNvSpPr/>
          <p:nvPr/>
        </p:nvSpPr>
        <p:spPr>
          <a:xfrm>
            <a:off x="6102096" y="1115568"/>
            <a:ext cx="2694432" cy="1783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6" name="Badge 1126"/>
          <p:cNvSpPr txBox="1"/>
          <p:nvPr/>
        </p:nvSpPr>
        <p:spPr>
          <a:xfrm>
            <a:off x="6248400" y="128016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Text 1127"/>
          <p:cNvSpPr txBox="1"/>
          <p:nvPr/>
        </p:nvSpPr>
        <p:spPr>
          <a:xfrm>
            <a:off x="6541008" y="1207008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Run</a:t>
            </a:r>
          </a:p>
        </p:txBody>
      </p:sp>
      <p:sp>
        <p:nvSpPr>
          <p:cNvPr id="1128" name="Text 1128"/>
          <p:cNvSpPr txBox="1"/>
          <p:nvPr/>
        </p:nvSpPr>
        <p:spPr>
          <a:xfrm>
            <a:off x="6248400" y="1645920"/>
            <a:ext cx="24018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containerised Flask service for UI and API, deployed from source in asia-south1; scales to zero when idle.</a:t>
            </a:r>
          </a:p>
        </p:txBody>
      </p:sp>
      <p:sp>
        <p:nvSpPr>
          <p:cNvPr id="1129" name="Card 1129"/>
          <p:cNvSpPr/>
          <p:nvPr/>
        </p:nvSpPr>
        <p:spPr>
          <a:xfrm>
            <a:off x="347472" y="3054096"/>
            <a:ext cx="2694432" cy="1783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30" name="Badge 1130"/>
          <p:cNvSpPr txBox="1"/>
          <p:nvPr/>
        </p:nvSpPr>
        <p:spPr>
          <a:xfrm>
            <a:off x="493776" y="3218688"/>
            <a:ext cx="219456" cy="219456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Text 1131"/>
          <p:cNvSpPr txBox="1"/>
          <p:nvPr/>
        </p:nvSpPr>
        <p:spPr>
          <a:xfrm>
            <a:off x="786384" y="3145536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Firestore</a:t>
            </a:r>
          </a:p>
        </p:txBody>
      </p:sp>
      <p:sp>
        <p:nvSpPr>
          <p:cNvPr id="1132" name="Text 1132"/>
          <p:cNvSpPr txBox="1"/>
          <p:nvPr/>
        </p:nvSpPr>
        <p:spPr>
          <a:xfrm>
            <a:off x="493776" y="3584448"/>
            <a:ext cx="24018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Stores verified Decision Records: what, why, who, when, sources, risk. A local-file fallback keeps the demo running.</a:t>
            </a:r>
          </a:p>
        </p:txBody>
      </p:sp>
      <p:sp>
        <p:nvSpPr>
          <p:cNvPr id="1133" name="Card 1133"/>
          <p:cNvSpPr/>
          <p:nvPr/>
        </p:nvSpPr>
        <p:spPr>
          <a:xfrm>
            <a:off x="3224784" y="3054096"/>
            <a:ext cx="2694432" cy="1783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34" name="Badge 1134"/>
          <p:cNvSpPr txBox="1"/>
          <p:nvPr/>
        </p:nvSpPr>
        <p:spPr>
          <a:xfrm>
            <a:off x="3371088" y="3218688"/>
            <a:ext cx="219456" cy="21945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Text 1135"/>
          <p:cNvSpPr txBox="1"/>
          <p:nvPr/>
        </p:nvSpPr>
        <p:spPr>
          <a:xfrm>
            <a:off x="3663696" y="3145536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Storage</a:t>
            </a:r>
          </a:p>
        </p:txBody>
      </p:sp>
      <p:sp>
        <p:nvSpPr>
          <p:cNvPr id="1136" name="Text 1136"/>
          <p:cNvSpPr txBox="1"/>
          <p:nvPr/>
        </p:nvSpPr>
        <p:spPr>
          <a:xfrm>
            <a:off x="3371088" y="3584448"/>
            <a:ext cx="24018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Holds the search corpus; each new Decision Record is written here and imported into Vertex AI Search.</a:t>
            </a:r>
          </a:p>
        </p:txBody>
      </p:sp>
      <p:sp>
        <p:nvSpPr>
          <p:cNvPr id="1137" name="Card 1137"/>
          <p:cNvSpPr/>
          <p:nvPr/>
        </p:nvSpPr>
        <p:spPr>
          <a:xfrm>
            <a:off x="6102096" y="3054096"/>
            <a:ext cx="2694432" cy="1783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38" name="Badge 1138"/>
          <p:cNvSpPr txBox="1"/>
          <p:nvPr/>
        </p:nvSpPr>
        <p:spPr>
          <a:xfrm>
            <a:off x="6248400" y="3218688"/>
            <a:ext cx="219456" cy="219456"/>
          </a:xfrm>
          <a:prstGeom prst="ellipse">
            <a:avLst/>
          </a:prstGeom>
          <a:solidFill>
            <a:srgbClr val="8086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Text 1139"/>
          <p:cNvSpPr txBox="1"/>
          <p:nvPr/>
        </p:nvSpPr>
        <p:spPr>
          <a:xfrm>
            <a:off x="6541008" y="3145536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Python stack</a:t>
            </a:r>
          </a:p>
        </p:txBody>
      </p:sp>
      <p:sp>
        <p:nvSpPr>
          <p:cNvPr id="1140" name="Text 1140"/>
          <p:cNvSpPr txBox="1"/>
          <p:nvPr/>
        </p:nvSpPr>
        <p:spPr>
          <a:xfrm>
            <a:off x="6248400" y="3584448"/>
            <a:ext cx="24018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Flask, google-genai SDK, Discovery Engine and Firestore clients, pytest: 83 offline tests and 13 live end-to-end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Estimated implementation cost (optional)</a:t>
            </a:r>
          </a:p>
        </p:txBody>
      </p:sp>
      <p:sp>
        <p:nvSpPr>
          <p:cNvPr id="1141" name="Text 1141"/>
          <p:cNvSpPr txBox="1"/>
          <p:nvPr/>
        </p:nvSpPr>
        <p:spPr>
          <a:xfrm>
            <a:off x="347472" y="1115568"/>
            <a:ext cx="84490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Fully serverless and pay-per-use: no servers to run and nothing to pay while idle. </a:t>
            </a:r>
            <a:r>
              <a:rPr lang="en-GB" sz="12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Cost grows with scans and questions, not with headcount.</a:t>
            </a:r>
          </a:p>
        </p:txBody>
      </p:sp>
      <p:sp>
        <p:nvSpPr>
          <p:cNvPr id="1142" name="Card 1142"/>
          <p:cNvSpPr/>
          <p:nvPr/>
        </p:nvSpPr>
        <p:spPr>
          <a:xfrm>
            <a:off x="347472" y="1682496"/>
            <a:ext cx="8449056" cy="329184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43" name="Text 1143"/>
          <p:cNvSpPr txBox="1"/>
          <p:nvPr/>
        </p:nvSpPr>
        <p:spPr>
          <a:xfrm>
            <a:off x="438912" y="168249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Component</a:t>
            </a:r>
          </a:p>
        </p:txBody>
      </p:sp>
      <p:sp>
        <p:nvSpPr>
          <p:cNvPr id="1144" name="Text 1144"/>
          <p:cNvSpPr txBox="1"/>
          <p:nvPr/>
        </p:nvSpPr>
        <p:spPr>
          <a:xfrm>
            <a:off x="2267712" y="1682496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What drives cost</a:t>
            </a:r>
          </a:p>
        </p:txBody>
      </p:sp>
      <p:sp>
        <p:nvSpPr>
          <p:cNvPr id="1145" name="Text 1145"/>
          <p:cNvSpPr txBox="1"/>
          <p:nvPr/>
        </p:nvSpPr>
        <p:spPr>
          <a:xfrm>
            <a:off x="4599432" y="1682496"/>
            <a:ext cx="410565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Usage per action in Policy Vault</a:t>
            </a:r>
          </a:p>
        </p:txBody>
      </p:sp>
      <p:sp>
        <p:nvSpPr>
          <p:cNvPr id="1146" name="Card 1146"/>
          <p:cNvSpPr/>
          <p:nvPr/>
        </p:nvSpPr>
        <p:spPr>
          <a:xfrm>
            <a:off x="347472" y="2011680"/>
            <a:ext cx="8449056" cy="4572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47" name="Text 1147"/>
          <p:cNvSpPr txBox="1"/>
          <p:nvPr/>
        </p:nvSpPr>
        <p:spPr>
          <a:xfrm>
            <a:off x="438912" y="20116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Gemini on Vertex AI</a:t>
            </a:r>
          </a:p>
        </p:txBody>
      </p:sp>
      <p:sp>
        <p:nvSpPr>
          <p:cNvPr id="1148" name="Text 1148"/>
          <p:cNvSpPr txBox="1"/>
          <p:nvPr/>
        </p:nvSpPr>
        <p:spPr>
          <a:xfrm>
            <a:off x="2267712" y="201168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Input and output tokens per call</a:t>
            </a:r>
          </a:p>
        </p:txBody>
      </p:sp>
      <p:sp>
        <p:nvSpPr>
          <p:cNvPr id="1149" name="Text 1149"/>
          <p:cNvSpPr txBox="1"/>
          <p:nvPr/>
        </p:nvSpPr>
        <p:spPr>
          <a:xfrm>
            <a:off x="4599432" y="2011680"/>
            <a:ext cx="41056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Scan: 2 calls (extract + explain all drifts) · interview: 2 calls · Ask Why: 1 grounded call</a:t>
            </a:r>
          </a:p>
        </p:txBody>
      </p:sp>
      <p:sp>
        <p:nvSpPr>
          <p:cNvPr id="1150" name="Card 1150"/>
          <p:cNvSpPr/>
          <p:nvPr/>
        </p:nvSpPr>
        <p:spPr>
          <a:xfrm>
            <a:off x="347472" y="2468880"/>
            <a:ext cx="84490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1" name="Text 1151"/>
          <p:cNvSpPr txBox="1"/>
          <p:nvPr/>
        </p:nvSpPr>
        <p:spPr>
          <a:xfrm>
            <a:off x="438912" y="24688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Vertex AI Search</a:t>
            </a:r>
          </a:p>
        </p:txBody>
      </p:sp>
      <p:sp>
        <p:nvSpPr>
          <p:cNvPr id="1152" name="Text 1152"/>
          <p:cNvSpPr txBox="1"/>
          <p:nvPr/>
        </p:nvSpPr>
        <p:spPr>
          <a:xfrm>
            <a:off x="2267712" y="246888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Search queries and indexed data</a:t>
            </a:r>
          </a:p>
        </p:txBody>
      </p:sp>
      <p:sp>
        <p:nvSpPr>
          <p:cNvPr id="1153" name="Text 1153"/>
          <p:cNvSpPr txBox="1"/>
          <p:nvPr/>
        </p:nvSpPr>
        <p:spPr>
          <a:xfrm>
            <a:off x="4599432" y="2468880"/>
            <a:ext cx="41056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 query per Ask Why or interview clue; corpus of tens of documents</a:t>
            </a:r>
          </a:p>
        </p:txBody>
      </p:sp>
      <p:sp>
        <p:nvSpPr>
          <p:cNvPr id="1154" name="Card 1154"/>
          <p:cNvSpPr/>
          <p:nvPr/>
        </p:nvSpPr>
        <p:spPr>
          <a:xfrm>
            <a:off x="347472" y="2926080"/>
            <a:ext cx="8449056" cy="4572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5" name="Text 1155"/>
          <p:cNvSpPr txBox="1"/>
          <p:nvPr/>
        </p:nvSpPr>
        <p:spPr>
          <a:xfrm>
            <a:off x="438912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Run</a:t>
            </a:r>
          </a:p>
        </p:txBody>
      </p:sp>
      <p:sp>
        <p:nvSpPr>
          <p:cNvPr id="1156" name="Text 1156"/>
          <p:cNvSpPr txBox="1"/>
          <p:nvPr/>
        </p:nvSpPr>
        <p:spPr>
          <a:xfrm>
            <a:off x="2267712" y="292608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CPU and memory while serving requests</a:t>
            </a:r>
          </a:p>
        </p:txBody>
      </p:sp>
      <p:sp>
        <p:nvSpPr>
          <p:cNvPr id="1157" name="Text 1157"/>
          <p:cNvSpPr txBox="1"/>
          <p:nvPr/>
        </p:nvSpPr>
        <p:spPr>
          <a:xfrm>
            <a:off x="4599432" y="2926080"/>
            <a:ext cx="41056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Scales to zero; one small instance covers a team</a:t>
            </a:r>
          </a:p>
        </p:txBody>
      </p:sp>
      <p:sp>
        <p:nvSpPr>
          <p:cNvPr id="1158" name="Card 1158"/>
          <p:cNvSpPr/>
          <p:nvPr/>
        </p:nvSpPr>
        <p:spPr>
          <a:xfrm>
            <a:off x="347472" y="3383280"/>
            <a:ext cx="84490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9" name="Text 1159"/>
          <p:cNvSpPr txBox="1"/>
          <p:nvPr/>
        </p:nvSpPr>
        <p:spPr>
          <a:xfrm>
            <a:off x="438912" y="33832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Firestore</a:t>
            </a:r>
          </a:p>
        </p:txBody>
      </p:sp>
      <p:sp>
        <p:nvSpPr>
          <p:cNvPr id="1160" name="Text 1160"/>
          <p:cNvSpPr txBox="1"/>
          <p:nvPr/>
        </p:nvSpPr>
        <p:spPr>
          <a:xfrm>
            <a:off x="2267712" y="338328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Document reads and writes</a:t>
            </a:r>
          </a:p>
        </p:txBody>
      </p:sp>
      <p:sp>
        <p:nvSpPr>
          <p:cNvPr id="1161" name="Text 1161"/>
          <p:cNvSpPr txBox="1"/>
          <p:nvPr/>
        </p:nvSpPr>
        <p:spPr>
          <a:xfrm>
            <a:off x="4599432" y="3383280"/>
            <a:ext cx="41056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small document per Decision Record</a:t>
            </a:r>
          </a:p>
        </p:txBody>
      </p:sp>
      <p:sp>
        <p:nvSpPr>
          <p:cNvPr id="1162" name="Card 1162"/>
          <p:cNvSpPr/>
          <p:nvPr/>
        </p:nvSpPr>
        <p:spPr>
          <a:xfrm>
            <a:off x="347472" y="3840480"/>
            <a:ext cx="8449056" cy="4572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63" name="Text 1163"/>
          <p:cNvSpPr txBox="1"/>
          <p:nvPr/>
        </p:nvSpPr>
        <p:spPr>
          <a:xfrm>
            <a:off x="438912" y="38404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Storage</a:t>
            </a:r>
          </a:p>
        </p:txBody>
      </p:sp>
      <p:sp>
        <p:nvSpPr>
          <p:cNvPr id="1164" name="Text 1164"/>
          <p:cNvSpPr txBox="1"/>
          <p:nvPr/>
        </p:nvSpPr>
        <p:spPr>
          <a:xfrm>
            <a:off x="2267712" y="384048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Data stored</a:t>
            </a:r>
          </a:p>
        </p:txBody>
      </p:sp>
      <p:sp>
        <p:nvSpPr>
          <p:cNvPr id="1165" name="Text 1165"/>
          <p:cNvSpPr txBox="1"/>
          <p:nvPr/>
        </p:nvSpPr>
        <p:spPr>
          <a:xfrm>
            <a:off x="4599432" y="3840480"/>
            <a:ext cx="41056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few MB (policy PDFs, tickets, records)</a:t>
            </a:r>
          </a:p>
        </p:txBody>
      </p:sp>
      <p:sp>
        <p:nvSpPr>
          <p:cNvPr id="1166" name="Text 1166"/>
          <p:cNvSpPr txBox="1"/>
          <p:nvPr/>
        </p:nvSpPr>
        <p:spPr>
          <a:xfrm>
            <a:off x="347472" y="4389120"/>
            <a:ext cx="84490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Cost control: </a:t>
            </a: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extraction result can be cached and reused, all drifts are explained in one call, and Cloud Run idles at zero. Prices follow Google Cloud’s current rate cards.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Snapshots of the prototype</a:t>
            </a:r>
          </a:p>
        </p:txBody>
      </p:sp>
      <p:pic>
        <p:nvPicPr>
          <p:cNvPr id="1167" name="Screenshot 1167" descr="02_drift_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115568"/>
            <a:ext cx="3580429" cy="15544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68" name="Text 1168"/>
          <p:cNvSpPr txBox="1"/>
          <p:nvPr/>
        </p:nvSpPr>
        <p:spPr>
          <a:xfrm>
            <a:off x="347472" y="2706624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Drift report: 12 rules checked, 4 drifts, 8 aligned, root cause per drift</a:t>
            </a:r>
          </a:p>
        </p:txBody>
      </p:sp>
      <p:pic>
        <p:nvPicPr>
          <p:cNvPr id="1169" name="Screenshot 1169" descr="03_ev_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1115568"/>
            <a:ext cx="4087368" cy="1340787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70" name="Text 1170"/>
          <p:cNvSpPr txBox="1"/>
          <p:nvPr/>
        </p:nvSpPr>
        <p:spPr>
          <a:xfrm>
            <a:off x="4709160" y="2492931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Evidence panel: policy sentence, live configuration and ticket side by side</a:t>
            </a:r>
          </a:p>
        </p:txBody>
      </p:sp>
      <p:pic>
        <p:nvPicPr>
          <p:cNvPr id="1171" name="Screenshot 1171" descr="04_ga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3054096"/>
            <a:ext cx="3788593" cy="15544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72" name="Text 1172"/>
          <p:cNvSpPr txBox="1"/>
          <p:nvPr/>
        </p:nvSpPr>
        <p:spPr>
          <a:xfrm>
            <a:off x="347472" y="4645152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Gap finder: rules nobody can explain, ready for the expert interview</a:t>
            </a:r>
          </a:p>
        </p:txBody>
      </p:sp>
      <p:pic>
        <p:nvPicPr>
          <p:cNvPr id="1173" name="Screenshot 1173" descr="05_cover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3054096"/>
            <a:ext cx="4087368" cy="986741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74" name="Text 1174"/>
          <p:cNvSpPr txBox="1"/>
          <p:nvPr/>
        </p:nvSpPr>
        <p:spPr>
          <a:xfrm>
            <a:off x="4709160" y="4077413"/>
            <a:ext cx="40873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Knowledge coverage: 13 of 17 rules have a known reason before interviews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Prototype Performance report/Benchmarking</a:t>
            </a:r>
          </a:p>
        </p:txBody>
      </p:sp>
      <p:sp>
        <p:nvSpPr>
          <p:cNvPr id="1175" name="Card 1175"/>
          <p:cNvSpPr/>
          <p:nvPr/>
        </p:nvSpPr>
        <p:spPr>
          <a:xfrm>
            <a:off x="347472" y="1115568"/>
            <a:ext cx="1988820" cy="120700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76" name="Text 1176"/>
          <p:cNvSpPr txBox="1"/>
          <p:nvPr/>
        </p:nvSpPr>
        <p:spPr>
          <a:xfrm>
            <a:off x="493776" y="1188720"/>
            <a:ext cx="169621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rgbClr val="D93025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 / 4</a:t>
            </a:r>
          </a:p>
        </p:txBody>
      </p:sp>
      <p:sp>
        <p:nvSpPr>
          <p:cNvPr id="1177" name="Text 1177"/>
          <p:cNvSpPr txBox="1"/>
          <p:nvPr/>
        </p:nvSpPr>
        <p:spPr>
          <a:xfrm>
            <a:off x="493776" y="1755648"/>
            <a:ext cx="16962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planted drifts detected</a:t>
            </a:r>
          </a:p>
        </p:txBody>
      </p:sp>
      <p:sp>
        <p:nvSpPr>
          <p:cNvPr id="1178" name="Card 1178"/>
          <p:cNvSpPr/>
          <p:nvPr/>
        </p:nvSpPr>
        <p:spPr>
          <a:xfrm>
            <a:off x="2500884" y="1115568"/>
            <a:ext cx="1988820" cy="120700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79" name="Text 1179"/>
          <p:cNvSpPr txBox="1"/>
          <p:nvPr/>
        </p:nvSpPr>
        <p:spPr>
          <a:xfrm>
            <a:off x="2647188" y="1188720"/>
            <a:ext cx="169621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0</a:t>
            </a:r>
          </a:p>
        </p:txBody>
      </p:sp>
      <p:sp>
        <p:nvSpPr>
          <p:cNvPr id="1180" name="Text 1180"/>
          <p:cNvSpPr txBox="1"/>
          <p:nvPr/>
        </p:nvSpPr>
        <p:spPr>
          <a:xfrm>
            <a:off x="2647188" y="1755648"/>
            <a:ext cx="16962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false alarms (8 / 8 aligned rules confirmed)</a:t>
            </a:r>
          </a:p>
        </p:txBody>
      </p:sp>
      <p:sp>
        <p:nvSpPr>
          <p:cNvPr id="1181" name="Card 1181"/>
          <p:cNvSpPr/>
          <p:nvPr/>
        </p:nvSpPr>
        <p:spPr>
          <a:xfrm>
            <a:off x="4654296" y="1115568"/>
            <a:ext cx="1988820" cy="120700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2" name="Text 1182"/>
          <p:cNvSpPr txBox="1"/>
          <p:nvPr/>
        </p:nvSpPr>
        <p:spPr>
          <a:xfrm>
            <a:off x="4800600" y="1188720"/>
            <a:ext cx="169621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 / 4</a:t>
            </a:r>
          </a:p>
        </p:txBody>
      </p:sp>
      <p:sp>
        <p:nvSpPr>
          <p:cNvPr id="1183" name="Text 1183"/>
          <p:cNvSpPr txBox="1"/>
          <p:nvPr/>
        </p:nvSpPr>
        <p:spPr>
          <a:xfrm>
            <a:off x="4800600" y="1755648"/>
            <a:ext cx="16962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root causes right (3 tickets + 1 “ask the expert”)</a:t>
            </a:r>
          </a:p>
        </p:txBody>
      </p:sp>
      <p:sp>
        <p:nvSpPr>
          <p:cNvPr id="1184" name="Card 1184"/>
          <p:cNvSpPr/>
          <p:nvPr/>
        </p:nvSpPr>
        <p:spPr>
          <a:xfrm>
            <a:off x="6807708" y="1115568"/>
            <a:ext cx="1988820" cy="120700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5" name="Text 1185"/>
          <p:cNvSpPr txBox="1"/>
          <p:nvPr/>
        </p:nvSpPr>
        <p:spPr>
          <a:xfrm>
            <a:off x="6954012" y="1188720"/>
            <a:ext cx="169621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rgbClr val="E374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 / 3</a:t>
            </a:r>
          </a:p>
        </p:txBody>
      </p:sp>
      <p:sp>
        <p:nvSpPr>
          <p:cNvPr id="1186" name="Text 1186"/>
          <p:cNvSpPr txBox="1"/>
          <p:nvPr/>
        </p:nvSpPr>
        <p:spPr>
          <a:xfrm>
            <a:off x="6954012" y="1755648"/>
            <a:ext cx="16962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expected tickets ranked first by Vertex AI Search</a:t>
            </a:r>
          </a:p>
        </p:txBody>
      </p:sp>
      <p:sp>
        <p:nvSpPr>
          <p:cNvPr id="1187" name="Text 1187"/>
          <p:cNvSpPr txBox="1"/>
          <p:nvPr/>
        </p:nvSpPr>
        <p:spPr>
          <a:xfrm>
            <a:off x="347472" y="24871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Ask Why checks</a:t>
            </a:r>
          </a:p>
        </p:txBody>
      </p:sp>
      <p:sp>
        <p:nvSpPr>
          <p:cNvPr id="1188" name="Card 1188"/>
          <p:cNvSpPr/>
          <p:nvPr/>
        </p:nvSpPr>
        <p:spPr>
          <a:xfrm>
            <a:off x="347472" y="2798064"/>
            <a:ext cx="5120640" cy="347472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9" name="Text 1189"/>
          <p:cNvSpPr txBox="1"/>
          <p:nvPr/>
        </p:nvSpPr>
        <p:spPr>
          <a:xfrm>
            <a:off x="438912" y="279806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Why is the meal limit ₹4,000 when policy says ₹2,500?</a:t>
            </a:r>
          </a:p>
        </p:txBody>
      </p:sp>
      <p:sp>
        <p:nvSpPr>
          <p:cNvPr id="1190" name="Text 1190"/>
          <p:cNvSpPr txBox="1"/>
          <p:nvPr/>
        </p:nvSpPr>
        <p:spPr>
          <a:xfrm>
            <a:off x="3410712" y="2798064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✓ </a:t>
            </a: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Cites TKT-1042</a:t>
            </a:r>
          </a:p>
        </p:txBody>
      </p:sp>
      <p:sp>
        <p:nvSpPr>
          <p:cNvPr id="1191" name="Card 1191"/>
          <p:cNvSpPr/>
          <p:nvPr/>
        </p:nvSpPr>
        <p:spPr>
          <a:xfrm>
            <a:off x="347472" y="3182112"/>
            <a:ext cx="5120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92" name="Text 1192"/>
          <p:cNvSpPr txBox="1"/>
          <p:nvPr/>
        </p:nvSpPr>
        <p:spPr>
          <a:xfrm>
            <a:off x="438912" y="318211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 I re-enable the vehicle registration field?</a:t>
            </a:r>
          </a:p>
        </p:txBody>
      </p:sp>
      <p:sp>
        <p:nvSpPr>
          <p:cNvPr id="1193" name="Text 1193"/>
          <p:cNvSpPr txBox="1"/>
          <p:nvPr/>
        </p:nvSpPr>
        <p:spPr>
          <a:xfrm>
            <a:off x="3410712" y="318211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✓ </a:t>
            </a: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“Not until ERP mapping is fixed” · DR + TKT-1135</a:t>
            </a:r>
          </a:p>
        </p:txBody>
      </p:sp>
      <p:sp>
        <p:nvSpPr>
          <p:cNvPr id="1194" name="Card 1194"/>
          <p:cNvSpPr/>
          <p:nvPr/>
        </p:nvSpPr>
        <p:spPr>
          <a:xfrm>
            <a:off x="347472" y="3566160"/>
            <a:ext cx="5120640" cy="347472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95" name="Text 1195"/>
          <p:cNvSpPr txBox="1"/>
          <p:nvPr/>
        </p:nvSpPr>
        <p:spPr>
          <a:xfrm>
            <a:off x="438912" y="356616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Why is cost centre CC-4410 excluded from auto-approval?</a:t>
            </a:r>
          </a:p>
        </p:txBody>
      </p:sp>
      <p:sp>
        <p:nvSpPr>
          <p:cNvPr id="1196" name="Text 1196"/>
          <p:cNvSpPr txBox="1"/>
          <p:nvPr/>
        </p:nvSpPr>
        <p:spPr>
          <a:xfrm>
            <a:off x="3410712" y="35661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✓ </a:t>
            </a: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Cites the Decision Record</a:t>
            </a:r>
          </a:p>
        </p:txBody>
      </p:sp>
      <p:sp>
        <p:nvSpPr>
          <p:cNvPr id="1197" name="Card 1197"/>
          <p:cNvSpPr/>
          <p:nvPr/>
        </p:nvSpPr>
        <p:spPr>
          <a:xfrm>
            <a:off x="347472" y="3950208"/>
            <a:ext cx="5120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98" name="Text 1198"/>
          <p:cNvSpPr txBox="1"/>
          <p:nvPr/>
        </p:nvSpPr>
        <p:spPr>
          <a:xfrm>
            <a:off x="438912" y="395020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Why was the international meal limit set at USD 75? (trap)</a:t>
            </a:r>
          </a:p>
        </p:txBody>
      </p:sp>
      <p:sp>
        <p:nvSpPr>
          <p:cNvPr id="1199" name="Text 1199"/>
          <p:cNvSpPr txBox="1"/>
          <p:nvPr/>
        </p:nvSpPr>
        <p:spPr>
          <a:xfrm>
            <a:off x="3410712" y="395020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✓ </a:t>
            </a: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“No recorded rationale found”</a:t>
            </a:r>
          </a:p>
        </p:txBody>
      </p:sp>
      <p:sp>
        <p:nvSpPr>
          <p:cNvPr id="1200" name="Card 1200"/>
          <p:cNvSpPr/>
          <p:nvPr/>
        </p:nvSpPr>
        <p:spPr>
          <a:xfrm>
            <a:off x="5696712" y="2487168"/>
            <a:ext cx="3099816" cy="184708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01" name="Text 1201"/>
          <p:cNvSpPr txBox="1"/>
          <p:nvPr/>
        </p:nvSpPr>
        <p:spPr>
          <a:xfrm>
            <a:off x="5843016" y="2578608"/>
            <a:ext cx="2807208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Engineering checks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83 / 83 </a:t>
            </a: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offline tests: comparison logic, guard-rails, app flow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13 / 13 </a:t>
            </a: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live end-to-end checks on Gemini + Vertex AI Search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 / 2 </a:t>
            </a: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drifts, 0 false alarms on the inventory pack (7 / 7 aligned)</a:t>
            </a:r>
          </a:p>
        </p:txBody>
      </p:sp>
      <p:sp>
        <p:nvSpPr>
          <p:cNvPr id="1202" name="Text 1202"/>
          <p:cNvSpPr txBox="1"/>
          <p:nvPr/>
        </p:nvSpPr>
        <p:spPr>
          <a:xfrm>
            <a:off x="347472" y="4617720"/>
            <a:ext cx="84490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Measured with gemini-3.5-flash against a hidden answer key (ground_truth.json) that never reaches a prompt. All data synthetic.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Additional Details/Future Development (if any)</a:t>
            </a:r>
          </a:p>
        </p:txBody>
      </p:sp>
      <p:sp>
        <p:nvSpPr>
          <p:cNvPr id="1203" name="Text 1203"/>
          <p:cNvSpPr txBox="1"/>
          <p:nvPr/>
        </p:nvSpPr>
        <p:spPr>
          <a:xfrm>
            <a:off x="347472" y="1115568"/>
            <a:ext cx="416052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More domain packs</a:t>
            </a: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procurement (Ariba-style), finance, sales discount approvals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Real connectors</a:t>
            </a: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SAP Concur, SAP Ariba and S/4HANA configuration APIs; ServiceNow / Jira tickets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Continuous monitoring</a:t>
            </a: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re-scan on every policy or configuration change via Pub/Sub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Change impact check</a:t>
            </a: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warn which Decision Records a planned change touches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SAP BTP edition</a:t>
            </a: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AI Core / Generative AI Hub and Joule, as a knowledge-retention layer for S/4HANA migrations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1A73E8"/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Enterprise hardening</a:t>
            </a:r>
            <a:r>
              <a:rPr lang="en-GB" sz="10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SSO, role-based access, audit trail of who verified what</a:t>
            </a:r>
          </a:p>
        </p:txBody>
      </p:sp>
      <p:sp>
        <p:nvSpPr>
          <p:cNvPr id="1204" name="Text 1204"/>
          <p:cNvSpPr txBox="1"/>
          <p:nvPr/>
        </p:nvSpPr>
        <p:spPr>
          <a:xfrm>
            <a:off x="4736592" y="1115568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Already working: a second domain on the same engine</a:t>
            </a:r>
          </a:p>
        </p:txBody>
      </p:sp>
      <p:pic>
        <p:nvPicPr>
          <p:cNvPr id="1205" name="Screenshot 1205" descr="06_inv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1444752"/>
            <a:ext cx="4059936" cy="2169431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206" name="Text 1206"/>
          <p:cNvSpPr txBox="1"/>
          <p:nvPr/>
        </p:nvSpPr>
        <p:spPr>
          <a:xfrm>
            <a:off x="4736592" y="3650759"/>
            <a:ext cx="405993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Inventory pack: class A safety stock at 30 days vs policy 15, traced to a 2021 shortage ticket (TKT-2031) that was never reverted.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Provide links to your:</a:t>
            </a:r>
          </a:p>
        </p:txBody>
      </p:sp>
      <p:sp>
        <p:nvSpPr>
          <p:cNvPr id="1207" name="Card 1207"/>
          <p:cNvSpPr/>
          <p:nvPr/>
        </p:nvSpPr>
        <p:spPr>
          <a:xfrm>
            <a:off x="347472" y="1207008"/>
            <a:ext cx="8449056" cy="7772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08" name="Badge 1208"/>
          <p:cNvSpPr txBox="1"/>
          <p:nvPr/>
        </p:nvSpPr>
        <p:spPr>
          <a:xfrm>
            <a:off x="530352" y="144475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209" name="Text 1209"/>
          <p:cNvSpPr txBox="1"/>
          <p:nvPr/>
        </p:nvSpPr>
        <p:spPr>
          <a:xfrm>
            <a:off x="1005840" y="12801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GitHub Public Repository</a:t>
            </a:r>
          </a:p>
        </p:txBody>
      </p:sp>
      <p:sp>
        <p:nvSpPr>
          <p:cNvPr id="1210" name="Text 1210"/>
          <p:cNvSpPr txBox="1"/>
          <p:nvPr/>
        </p:nvSpPr>
        <p:spPr>
          <a:xfrm>
            <a:off x="3822192" y="1280160"/>
            <a:ext cx="483717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5"/>
              </a:rPr>
              <a:t>https://github.com/PadmajaG-ai/policy_vault</a:t>
            </a:r>
          </a:p>
        </p:txBody>
      </p:sp>
      <p:sp>
        <p:nvSpPr>
          <p:cNvPr id="1211" name="Card 1211"/>
          <p:cNvSpPr/>
          <p:nvPr/>
        </p:nvSpPr>
        <p:spPr>
          <a:xfrm>
            <a:off x="347472" y="2167128"/>
            <a:ext cx="8449056" cy="7772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12" name="Badge 1212"/>
          <p:cNvSpPr txBox="1"/>
          <p:nvPr/>
        </p:nvSpPr>
        <p:spPr>
          <a:xfrm>
            <a:off x="530352" y="2404872"/>
            <a:ext cx="310896" cy="31089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213" name="Text 1213"/>
          <p:cNvSpPr txBox="1"/>
          <p:nvPr/>
        </p:nvSpPr>
        <p:spPr>
          <a:xfrm>
            <a:off x="1005840" y="22402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Demo Video Link (3 Minutes)</a:t>
            </a:r>
          </a:p>
        </p:txBody>
      </p:sp>
      <p:sp>
        <p:nvSpPr>
          <p:cNvPr id="1214" name="Text 1214"/>
          <p:cNvSpPr txBox="1"/>
          <p:nvPr/>
        </p:nvSpPr>
        <p:spPr>
          <a:xfrm>
            <a:off x="3822192" y="2240280"/>
            <a:ext cx="483717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D93025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  <a:hlinkClick r:id="rId6"/>
              </a:rPr>
              <a:t>Demo Video</a:t>
            </a:r>
            <a:endParaRPr lang="en-GB" sz="1150" dirty="0">
              <a:solidFill>
                <a:srgbClr val="D93025"/>
              </a:solidFill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1215" name="Card 1215"/>
          <p:cNvSpPr/>
          <p:nvPr/>
        </p:nvSpPr>
        <p:spPr>
          <a:xfrm>
            <a:off x="347472" y="3127248"/>
            <a:ext cx="8449056" cy="7772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16" name="Badge 1216"/>
          <p:cNvSpPr txBox="1"/>
          <p:nvPr/>
        </p:nvSpPr>
        <p:spPr>
          <a:xfrm>
            <a:off x="530352" y="3364992"/>
            <a:ext cx="310896" cy="310896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217" name="Text 1217"/>
          <p:cNvSpPr txBox="1"/>
          <p:nvPr/>
        </p:nvSpPr>
        <p:spPr>
          <a:xfrm>
            <a:off x="1005840" y="320040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Final Product Link</a:t>
            </a:r>
          </a:p>
        </p:txBody>
      </p:sp>
      <p:sp>
        <p:nvSpPr>
          <p:cNvPr id="1218" name="Text 1218"/>
          <p:cNvSpPr txBox="1"/>
          <p:nvPr/>
        </p:nvSpPr>
        <p:spPr>
          <a:xfrm>
            <a:off x="3822192" y="3200400"/>
            <a:ext cx="483717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7"/>
              </a:rPr>
              <a:t>https://policy-vault-240640518337.asia-south1.run.app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Text 1219"/>
          <p:cNvSpPr txBox="1"/>
          <p:nvPr/>
        </p:nvSpPr>
        <p:spPr>
          <a:xfrm>
            <a:off x="265350" y="663825"/>
            <a:ext cx="8613000" cy="4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Design decisions that make it trustworthy</a:t>
            </a:r>
          </a:p>
        </p:txBody>
      </p:sp>
      <p:sp>
        <p:nvSpPr>
          <p:cNvPr id="1220" name="Card 1220"/>
          <p:cNvSpPr/>
          <p:nvPr/>
        </p:nvSpPr>
        <p:spPr>
          <a:xfrm>
            <a:off x="347472" y="1115568"/>
            <a:ext cx="2694432" cy="1783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21" name="Badge 1221"/>
          <p:cNvSpPr txBox="1"/>
          <p:nvPr/>
        </p:nvSpPr>
        <p:spPr>
          <a:xfrm>
            <a:off x="493776" y="128016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222" name="Text 1222"/>
          <p:cNvSpPr txBox="1"/>
          <p:nvPr/>
        </p:nvSpPr>
        <p:spPr>
          <a:xfrm>
            <a:off x="493776" y="1664208"/>
            <a:ext cx="240182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 reads, code compares</a:t>
            </a:r>
          </a:p>
        </p:txBody>
      </p:sp>
      <p:sp>
        <p:nvSpPr>
          <p:cNvPr id="1223" name="Text 1223"/>
          <p:cNvSpPr txBox="1"/>
          <p:nvPr/>
        </p:nvSpPr>
        <p:spPr>
          <a:xfrm>
            <a:off x="493776" y="2011680"/>
            <a:ext cx="240182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turns policy text into rules; plain Python compares values, including Indian digit grouping like 1,00,000 and units.</a:t>
            </a:r>
          </a:p>
        </p:txBody>
      </p:sp>
      <p:sp>
        <p:nvSpPr>
          <p:cNvPr id="1224" name="Card 1224"/>
          <p:cNvSpPr/>
          <p:nvPr/>
        </p:nvSpPr>
        <p:spPr>
          <a:xfrm>
            <a:off x="3224784" y="1115568"/>
            <a:ext cx="2694432" cy="1783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25" name="Badge 1225"/>
          <p:cNvSpPr txBox="1"/>
          <p:nvPr/>
        </p:nvSpPr>
        <p:spPr>
          <a:xfrm>
            <a:off x="3371088" y="128016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226" name="Text 1226"/>
          <p:cNvSpPr txBox="1"/>
          <p:nvPr/>
        </p:nvSpPr>
        <p:spPr>
          <a:xfrm>
            <a:off x="3371088" y="1664208"/>
            <a:ext cx="240182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No anchoring</a:t>
            </a:r>
          </a:p>
        </p:txBody>
      </p:sp>
      <p:sp>
        <p:nvSpPr>
          <p:cNvPr id="1227" name="Text 1227"/>
          <p:cNvSpPr txBox="1"/>
          <p:nvPr/>
        </p:nvSpPr>
        <p:spPr>
          <a:xfrm>
            <a:off x="3371088" y="2011680"/>
            <a:ext cx="240182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sees the configuration’s rule slots, never its values, so an extracted value can only come from the policy.</a:t>
            </a:r>
          </a:p>
        </p:txBody>
      </p:sp>
      <p:sp>
        <p:nvSpPr>
          <p:cNvPr id="1228" name="Card 1228"/>
          <p:cNvSpPr/>
          <p:nvPr/>
        </p:nvSpPr>
        <p:spPr>
          <a:xfrm>
            <a:off x="6102096" y="1115568"/>
            <a:ext cx="2694432" cy="1783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29" name="Badge 1229"/>
          <p:cNvSpPr txBox="1"/>
          <p:nvPr/>
        </p:nvSpPr>
        <p:spPr>
          <a:xfrm>
            <a:off x="6248400" y="1280160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230" name="Text 1230"/>
          <p:cNvSpPr txBox="1"/>
          <p:nvPr/>
        </p:nvSpPr>
        <p:spPr>
          <a:xfrm>
            <a:off x="6248400" y="1664208"/>
            <a:ext cx="240182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It can only cite what exists</a:t>
            </a:r>
          </a:p>
        </p:txBody>
      </p:sp>
      <p:sp>
        <p:nvSpPr>
          <p:cNvPr id="1231" name="Text 1231"/>
          <p:cNvSpPr txBox="1"/>
          <p:nvPr/>
        </p:nvSpPr>
        <p:spPr>
          <a:xfrm>
            <a:off x="6248400" y="2011680"/>
            <a:ext cx="240182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Rule and ticket IDs are enums in the JSON schema and re-validated in code; sources come from grounding metadata.</a:t>
            </a:r>
          </a:p>
        </p:txBody>
      </p:sp>
      <p:sp>
        <p:nvSpPr>
          <p:cNvPr id="1232" name="Card 1232"/>
          <p:cNvSpPr/>
          <p:nvPr/>
        </p:nvSpPr>
        <p:spPr>
          <a:xfrm>
            <a:off x="347472" y="3054096"/>
            <a:ext cx="2694432" cy="1783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33" name="Badge 1233"/>
          <p:cNvSpPr txBox="1"/>
          <p:nvPr/>
        </p:nvSpPr>
        <p:spPr>
          <a:xfrm>
            <a:off x="493776" y="3218688"/>
            <a:ext cx="274320" cy="274320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</a:t>
            </a:r>
          </a:p>
        </p:txBody>
      </p:sp>
      <p:sp>
        <p:nvSpPr>
          <p:cNvPr id="1234" name="Text 1234"/>
          <p:cNvSpPr txBox="1"/>
          <p:nvPr/>
        </p:nvSpPr>
        <p:spPr>
          <a:xfrm>
            <a:off x="493776" y="3602736"/>
            <a:ext cx="240182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“I don’t know” is valid</a:t>
            </a:r>
          </a:p>
        </p:txBody>
      </p:sp>
      <p:sp>
        <p:nvSpPr>
          <p:cNvPr id="1235" name="Text 1235"/>
          <p:cNvSpPr txBox="1"/>
          <p:nvPr/>
        </p:nvSpPr>
        <p:spPr>
          <a:xfrm>
            <a:off x="493776" y="3950208"/>
            <a:ext cx="240182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step has a no-evidence path, and the tests include trap questions with no rationale.</a:t>
            </a:r>
          </a:p>
        </p:txBody>
      </p:sp>
      <p:sp>
        <p:nvSpPr>
          <p:cNvPr id="1236" name="Card 1236"/>
          <p:cNvSpPr/>
          <p:nvPr/>
        </p:nvSpPr>
        <p:spPr>
          <a:xfrm>
            <a:off x="3224784" y="3054096"/>
            <a:ext cx="2694432" cy="1783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37" name="Badge 1237"/>
          <p:cNvSpPr txBox="1"/>
          <p:nvPr/>
        </p:nvSpPr>
        <p:spPr>
          <a:xfrm>
            <a:off x="3371088" y="3218688"/>
            <a:ext cx="274320" cy="27432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5</a:t>
            </a:r>
          </a:p>
        </p:txBody>
      </p:sp>
      <p:sp>
        <p:nvSpPr>
          <p:cNvPr id="1238" name="Text 1238"/>
          <p:cNvSpPr txBox="1"/>
          <p:nvPr/>
        </p:nvSpPr>
        <p:spPr>
          <a:xfrm>
            <a:off x="3371088" y="3602736"/>
            <a:ext cx="240182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Generic rule shape</a:t>
            </a:r>
          </a:p>
        </p:txBody>
      </p:sp>
      <p:sp>
        <p:nvSpPr>
          <p:cNvPr id="1239" name="Text 1239"/>
          <p:cNvSpPr txBox="1"/>
          <p:nvPr/>
        </p:nvSpPr>
        <p:spPr>
          <a:xfrm>
            <a:off x="3371088" y="3950208"/>
            <a:ext cx="240182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domain, entity, attribute, condition, value, unit: a new domain is a data pack, not new code.</a:t>
            </a:r>
          </a:p>
        </p:txBody>
      </p:sp>
      <p:sp>
        <p:nvSpPr>
          <p:cNvPr id="1240" name="Card 1240"/>
          <p:cNvSpPr/>
          <p:nvPr/>
        </p:nvSpPr>
        <p:spPr>
          <a:xfrm>
            <a:off x="6102096" y="3054096"/>
            <a:ext cx="2694432" cy="17830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41" name="Badge 1241"/>
          <p:cNvSpPr txBox="1"/>
          <p:nvPr/>
        </p:nvSpPr>
        <p:spPr>
          <a:xfrm>
            <a:off x="6248400" y="3218688"/>
            <a:ext cx="274320" cy="27432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6</a:t>
            </a:r>
          </a:p>
        </p:txBody>
      </p:sp>
      <p:sp>
        <p:nvSpPr>
          <p:cNvPr id="1242" name="Text 1242"/>
          <p:cNvSpPr txBox="1"/>
          <p:nvPr/>
        </p:nvSpPr>
        <p:spPr>
          <a:xfrm>
            <a:off x="6248400" y="3602736"/>
            <a:ext cx="240182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Demo never breaks</a:t>
            </a:r>
          </a:p>
        </p:txBody>
      </p:sp>
      <p:sp>
        <p:nvSpPr>
          <p:cNvPr id="1243" name="Text 1243"/>
          <p:cNvSpPr txBox="1"/>
          <p:nvPr/>
        </p:nvSpPr>
        <p:spPr>
          <a:xfrm>
            <a:off x="6248400" y="3950208"/>
            <a:ext cx="240182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Search timeout, date-clue fallback for interviews, local fallback for records, last saved scan if a live scan fails.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1886</Words>
  <Application>Microsoft Office PowerPoint</Application>
  <PresentationFormat>On-screen Show (16:9)</PresentationFormat>
  <Paragraphs>224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Google Sans Flex</vt:lpstr>
      <vt:lpstr>Google Sans Flex Medium</vt:lpstr>
      <vt:lpstr>Arial</vt:lpstr>
      <vt:lpstr>Google Sans Flex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PADMAJA G .</cp:lastModifiedBy>
  <cp:revision>1</cp:revision>
  <dcterms:modified xsi:type="dcterms:W3CDTF">2026-10-17T21:45:08Z</dcterms:modified>
</cp:coreProperties>
</file>